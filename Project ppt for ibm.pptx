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92" r:id="rId7"/>
    <p:sldId id="279" r:id="rId8"/>
    <p:sldId id="262" r:id="rId9"/>
    <p:sldId id="290" r:id="rId10"/>
    <p:sldId id="291" r:id="rId11"/>
    <p:sldId id="286" r:id="rId12"/>
    <p:sldId id="287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746EE066-C99A-1548-0111-A8297267F854}" v="733" dt="2026-06-19T08:10:03.439"/>
    <p1510:client id="{86BCD85A-7972-A6FD-263D-01F0C6DCFF46}" v="8" dt="2026-06-19T08:02:34.666"/>
    <p1510:client id="{A6B9108B-7598-1D50-C4AA-8A38026DAEEF}" v="18" dt="2026-06-19T06:56:18.840"/>
    <p1510:client id="{F65B29D0-DD12-DDC3-5CE1-E2A91AABFDBA}" v="57" dt="2026-06-19T08:09:53.82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548" y="4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9T08:10:36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8444 7648 16383 0 0,'10'0'0'0'0,"19"0"0"0"0,19 0 0 0 0,17 0 0 0 0,13 0 0 0 0,8 0 0 0 0,9 0 0 0 0,0 0 0 0 0,-7 0 0 0 0,-9 0 0 0 0,-6 0 0 0 0,-7 0 0 0 0,-3 0 0 0 0,-9 0 0 0 0,-7 0 0 0 0,-2 0 0 0 0,-4 0 0 0 0,-3 0 0 0 0,-3 0 0 0 0,-3 0 0 0 0,-2 0 0 0 0,0 0 0 0 0,-1 0 0 0 0,0 0 0 0 0,0 0 0 0 0,1 0 0 0 0,4 0 0 0 0,8 0 0 0 0,11 0 0 0 0,7 0 0 0 0,8 0 0 0 0,13 0 0 0 0,8 0 0 0 0,10 0 0 0 0,17 0 0 0 0,10 0 0 0 0,-1 0 0 0 0,-2 0 0 0 0,-7 0 0 0 0,-2 0 0 0 0,-6 0 0 0 0,-6 0 0 0 0,-5 0 0 0 0,-14 0 0 0 0,-6 0 0 0 0,-5 0 0 0 0,-1 0 0 0 0,3 0 0 0 0,5 0 0 0 0,9 0 0 0 0,9 0 0 0 0,9 0 0 0 0,22 0 0 0 0,14 0 0 0 0,9 0 0 0 0,-1 0 0 0 0,-2 0 0 0 0,-4 0 0 0 0,-7 0 0 0 0,-7 0 0 0 0,-5 0 0 0 0,-3 0 0 0 0,-3 0 0 0 0,-5 0 0 0 0,-8 0 0 0 0,-6 0 0 0 0,-6 0 0 0 0,3 0 0 0 0,-1 0 0 0 0,-1 0 0 0 0,-2 0 0 0 0,-1 0 0 0 0,-7 0 0 0 0,4 0 0 0 0,0 0 0 0 0,2 0 0 0 0,-1 0 0 0 0,1 0 0 0 0,-6 0 0 0 0,-7 0 0 0 0,4 0 0 0 0,-7 0 0 0 0,-12 0 0 0 0,-11 0 0 0 0,-9 0 0 0 0,-7 0 0 0 0,-5 0 0 0 0,-2 0 0 0 0,-1 0 0 0 0,-1 0 0 0 0,1 0 0 0 0,0 0 0 0 0,1 0 0 0 0,11 0 0 0 0,3 0 0 0 0,4 0 0 0 0,10 0 0 0 0,11 0 0 0 0,8 0 0 0 0,7 0 0 0 0,14 0 0 0 0,7 0 0 0 0,0 0 0 0 0,-3 0 0 0 0,-12 0 0 0 0,-12 0 0 0 0,-9 0 0 0 0,-6 0 0 0 0,-8 0 0 0 0,-3 0 0 0 0,-6 0 0 0 0,-4 0 0 0 0,-5 0 0 0 0,-4 0 0 0 0,-1 0 0 0 0,-2 0 0 0 0,0 0 0 0 0,0 0 0 0 0,0 0 0 0 0,0 0 0 0 0,5 0 0 0 0,12 0 0 0 0,4 0 0 0 0,-2 0 0 0 0,-4 0 0 0 0,-5 0 0 0 0,-3 0 0 0 0,-3 0 0 0 0,-2 0 0 0 0,-2 0 0 0 0,0 0 0 0 0,0 0 0 0 0,0 0 0 0 0,0 0 0 0 0,1 0 0 0 0,4 0 0 0 0,3 0 0 0 0,-6 0 0 0 0,-3 0 0 0 0,-1 0 0 0 0,-5 0 0 0 0,-1 0 0 0 0,1 0 0 0 0,1 0 0 0 0,2 0 0 0 0,3 0 0 0 0,-10 0 0 0 0,-12 0 0 0 0,-13 0 0 0 0,-9 0 0 0 0,-8 0 0 0 0,-5 0 0 0 0,-2 0 0 0 0,-6 0 0 0 0,-3 0 0 0 0,2 0 0 0 0,2 0 0 0 0,1 0 0 0 0,2 0 0 0 0,-3 0 0 0 0,-6 0 0 0 0,-11 0 0 0 0,-7 0 0 0 0,-18 0 0 0 0,-16 0 0 0 0,-13 0 0 0 0,-8 0 0 0 0,-10 0 0 0 0,-24 0 0 0 0,-18 0 0 0 0,-5 0 0 0 0,-14 0 0 0 0,-1 0 0 0 0,1 0 0 0 0,12 0 0 0 0,0 0 0 0 0,-1 0 0 0 0,-1 0 0 0 0,-1 0 0 0 0,-6 0 0 0 0,3 0 0 0 0,-8 0 0 0 0,-4 0 0 0 0,-3 0 0 0 0,0 0 0 0 0,3 0 0 0 0,14 0 0 0 0,2 0 0 0 0,11 0 0 0 0,2 0 0 0 0,19 0 0 0 0,4 0 0 0 0,0 0 0 0 0,14 0 0 0 0,13 0 0 0 0,6 0 0 0 0,5 0 0 0 0,-5 0 0 0 0,-4 0 0 0 0,-5 0 0 0 0,4 0 0 0 0,-1 0 0 0 0,0 0 0 0 0,-2 0 0 0 0,3 0 0 0 0,6 0 0 0 0,6 0 0 0 0,4 0 0 0 0,-1 0 0 0 0,0 0 0 0 0,2 0 0 0 0,1 0 0 0 0,2 0 0 0 0,1 0 0 0 0,-4 0 0 0 0,-1 0 0 0 0,11 0 0 0 0,9 0 0 0 0,8 0 0 0 0,5 0 0 0 0,3 0 0 0 0,2 0 0 0 0,6 0 0 0 0,11 0 0 0 0,3 0 0 0 0,3 0 0 0 0,1 0 0 0 0,3 0 0 0 0,6 0 0 0 0,2 0 0 0 0,0 0 0 0 0,4 0 0 0 0,0 0 0 0 0,-1 0 0 0 0,-4 0 0 0 0,-1 0 0 0 0,-3 0 0 0 0,0 0 0 0 0,-2 0 0 0 0,-5 0 0 0 0,-7 0 0 0 0,3 0 0 0 0,4 0 0 0 0,3 0 0 0 0,1 0 0 0 0,6 0 0 0 0,3 0 0 0 0,-1 0 0 0 0,-1 0 0 0 0,-1 0 0 0 0,2 0 0 0 0,2 0 0 0 0,-2 0 0 0 0,4 0 0 0 0,-1 0 0 0 0,4 0 0 0 0,-1 0 0 0 0,-3 0 0 0 0,3 0 0 0 0,-2 0 0 0 0,-7 0 0 0 0,1 0 0 0 0,-1 0 0 0 0,-1 0 0 0 0,0 0 0 0 0,-2 0 0 0 0,0 0 0 0 0,-1 0 0 0 0,1 0 0 0 0,-1 0 0 0 0,0 0 0 0 0,0 0 0 0 0,0 0 0 0 0,5 0 0 0 0,7 0 0 0 0,1 0 0 0 0,-1 0 0 0 0,-3 0 0 0 0,-8 0 0 0 0,6 0 0 0 0,12 0 0 0 0,13 0 0 0 0,11 0 0 0 0,9 0 0 0 0,5 0 0 0 0,4 0 0 0 0,1 0 0 0 0,0 0 0 0 0,0 0 0 0 0,-11 0 0 0 0,-13 0 0 0 0,-14 0 0 0 0,-11 0 0 0 0,-7 0 0 0 0,-5 0 0 0 0,3 0 0 0 0,10 0 0 0 0,14 0 0 0 0,11 0 0 0 0,10 0 0 0 0,7 0 0 0 0,3 0 0 0 0,8 0 0 0 0,7 0 0 0 0,2 0 0 0 0,17 0 0 0 0,10 0 0 0 0,6 0 0 0 0,11 0 0 0 0,9 0 0 0 0,10 0 0 0 0,5 0 0 0 0,4 0 0 0 0,-2 0 0 0 0,-7 0 0 0 0,-6 0 0 0 0,0 0 0 0 0,-8 0 0 0 0,-5 0 0 0 0,-7 0 0 0 0,-13 0 0 0 0,-13 0 0 0 0,-7 0 0 0 0,-6 0 0 0 0,0 0 0 0 0,12 0 0 0 0,12 0 0 0 0,9 0 0 0 0,8 0 0 0 0,8 0 0 0 0,5 0 0 0 0,16 0 0 0 0,8 0 0 0 0,-1 0 0 0 0,-6 0 0 0 0,-2 0 0 0 0,0 0 0 0 0,-4 0 0 0 0,-6 0 0 0 0,1 0 0 0 0,-3 0 0 0 0,-8 0 0 0 0,5 0 0 0 0,7 0 0 0 0,0 0 0 0 0,-7 0 0 0 0,-1 0 0 0 0,-1 0 0 0 0,4 0 0 0 0,9 0 0 0 0,2 0 0 0 0,-7 0 0 0 0,-8 0 0 0 0,-3 0 0 0 0,2 0 0 0 0,0 0 0 0 0,-1 0 0 0 0,-6 0 0 0 0,-3 0 0 0 0,-6 0 0 0 0,-6 0 0 0 0,0 0 0 0 0,-8 0 0 0 0,1 0 0 0 0,-1 0 0 0 0,-2 0 0 0 0,4 0 0 0 0,6 0 0 0 0,-4 0 0 0 0,16 0 0 0 0,4 0 0 0 0,2 0 0 0 0,0 0 0 0 0,1 0 0 0 0,-1 0 0 0 0,10 0 0 0 0,8 0 0 0 0,6 0 0 0 0,-2 0 0 0 0,-5 0 0 0 0,-5 0 0 0 0,-5 0 0 0 0,-4 0 0 0 0,-13 0 0 0 0,-15 0 0 0 0,-9 0 0 0 0,-9 0 0 0 0,-7 0 0 0 0,-6 0 0 0 0,-4 0 0 0 0,3 0 0 0 0,1 0 0 0 0,5 0 0 0 0,10 0 0 0 0,7 0 0 0 0,4 0 0 0 0,-3 0 0 0 0,4 0 0 0 0,1 0 0 0 0,0 0 0 0 0,-6 0 0 0 0,4 0 0 0 0,-5 0 0 0 0,-6 0 0 0 0,-7 0 0 0 0,-5 0 0 0 0,-5 0 0 0 0,-2 0 0 0 0,-1 0 0 0 0,-2 0 0 0 0,-4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9T08:10:36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12735 6943 16383 0 0,'91'0'0'0'0,"137"0"0"0"0,85 0 0 0 0,45 0 0 0 0,-7 0 0 0 0,-44 0 0 0 0,-64 0 0 0 0,-62 0 0 0 0,-53 0 0 0 0,-43 0 0 0 0,-25 0 0 0 0,-23 0 0 0 0,-3 0 0 0 0,8 0 0 0 0,12 0 0 0 0,13 0 0 0 0,19 0 0 0 0,16 0 0 0 0,6 0 0 0 0,4 0 0 0 0,-1 0 0 0 0,-4 0 0 0 0,10 0 0 0 0,0 0 0 0 0,0 0 0 0 0,-4 0 0 0 0,-6 0 0 0 0,-1 0 0 0 0,-14 0 0 0 0,-11 0 0 0 0,-6 0 0 0 0,-9 0 0 0 0,-7 0 0 0 0,-8 0 0 0 0,-2 0 0 0 0,-5 0 0 0 0,-4 0 0 0 0,-5 0 0 0 0,3 0 0 0 0,-1 0 0 0 0,-21 0 0 0 0,-34 0 0 0 0,-50 0 0 0 0,-73 0 0 0 0,-59 0 0 0 0,-51 0 0 0 0,-39 0 0 0 0,-35 0 0 0 0,-29 0 0 0 0,-15 0 0 0 0,-1 0 0 0 0,18 0 0 0 0,27 0 0 0 0,34 0 0 0 0,26 0 0 0 0,38 0 0 0 0,41 0 0 0 0,33 0 0 0 0,28 0 0 0 0,13 0 0 0 0,22 0 0 0 0,11 0 0 0 0,13 0 0 0 0,13 0 0 0 0,11 0 0 0 0,7 0 0 0 0,5 0 0 0 0,2 0 0 0 0,1 0 0 0 0,-1 0 0 0 0,1 0 0 0 0,-2 0 0 0 0,1 0 0 0 0,-2 0 0 0 0,11 0 0 0 0,13 0 0 0 0,33 0 0 0 0,37 0 0 0 0,38 0 0 0 0,53 0 0 0 0,35 0 0 0 0,26 0 0 0 0,22 0 0 0 0,10 0 0 0 0,0 0 0 0 0,-13 0 0 0 0,-15 0 0 0 0,-26 0 0 0 0,-24 0 0 0 0,-32 0 0 0 0,-29 0 0 0 0,-28 0 0 0 0,-23 0 0 0 0,-10 0 0 0 0,-10 0 0 0 0,-20 0 0 0 0,-24 0 0 0 0,-31 0 0 0 0,-45 0 0 0 0,-43 0 0 0 0,-62 0 0 0 0,-50 0 0 0 0,-40 0 0 0 0,-29 0 0 0 0,-8 0 0 0 0,-6 0 0 0 0,5 0 0 0 0,16 0 0 0 0,24 0 0 0 0,27 0 0 0 0,36 0 0 0 0,24 0 0 0 0,39 0 0 0 0,34 0 0 0 0,27 0 0 0 0,23 0 0 0 0,17 0 0 0 0,23 0 0 0 0,25 0 0 0 0,33 0 0 0 0,56 0 0 0 0,49 0 0 0 0,27 0 0 0 0,24 0 0 0 0,17 0 0 0 0,4 0 0 0 0,1 0 0 0 0,-5 0 0 0 0,-17 0 0 0 0,-15 0 0 0 0,-7 0 0 0 0,-12 0 0 0 0,-16 0 0 0 0,-18 0 0 0 0,-13 0 0 0 0,-15 0 0 0 0,-19 0 0 0 0,-16 0 0 0 0,-4 0 0 0 0,-4 0 0 0 0,-18 0 0 0 0,-28 0 0 0 0,-35 0 0 0 0,-34 0 0 0 0,-34 0 0 0 0,-48 0 0 0 0,-33 0 0 0 0,-43 0 0 0 0,-58 0 0 0 0,-43 0 0 0 0,-32 0 0 0 0,-12 0 0 0 0,2 0 0 0 0,22 0 0 0 0,44 0 0 0 0,53 0 0 0 0,38 0 0 0 0,45 0 0 0 0,44 0 0 0 0,33 0 0 0 0,27 0 0 0 0,17 0 0 0 0,12 0 0 0 0,6 0 0 0 0,2 0 0 0 0,-1 0 0 0 0,0 0 0 0 0,-7 0 0 0 0,-3 0 0 0 0,-6 0 0 0 0,-6 0 0 0 0,-6 0 0 0 0,7 0 0 0 0,0 0 0 0 0,-2 0 0 0 0,2 0 0 0 0,3 0 0 0 0,4 0 0 0 0,3 0 0 0 0,8 0 0 0 0,3 0 0 0 0,-4 0 0 0 0,-8 0 0 0 0,-2 0 0 0 0,-1 0 0 0 0,-3 0 0 0 0,1 0 0 0 0,6 0 0 0 0,5 0 0 0 0,2 0 0 0 0,1 0 0 0 0,0 0 0 0 0,5 0 0 0 0,0 0 0 0 0,0 0 0 0 0,3 0 0 0 0,10 0 0 0 0,21 0 0 0 0,25 0 0 0 0,31 0 0 0 0,49 0 0 0 0,46 0 0 0 0,40 0 0 0 0,32 0 0 0 0,21 0 0 0 0,3 0 0 0 0,3 0 0 0 0,-3 0 0 0 0,-20 0 0 0 0,-20 0 0 0 0,-17 0 0 0 0,-22 0 0 0 0,-22 0 0 0 0,-18 0 0 0 0,-16 0 0 0 0,-21 0 0 0 0,-11 0 0 0 0,-12 0 0 0 0,-9 0 0 0 0,-12 0 0 0 0,-11 0 0 0 0,-8 0 0 0 0,-6 0 0 0 0,-4 0 0 0 0,9 0 0 0 0,7 0 0 0 0,6 0 0 0 0,10 0 0 0 0,14 0 0 0 0,10 0 0 0 0,20 0 0 0 0,3 0 0 0 0,7 0 0 0 0,5 0 0 0 0,-8 0 0 0 0,-3 0 0 0 0,5 0 0 0 0,-7 0 0 0 0,-11 0 0 0 0,-13 0 0 0 0,-10 0 0 0 0,-12 0 0 0 0,-12 0 0 0 0,-5 0 0 0 0,-4 0 0 0 0,1 0 0 0 0,3 0 0 0 0,4 0 0 0 0,-1 0 0 0 0,2 0 0 0 0,-4 0 0 0 0,-3 0 0 0 0,-5 0 0 0 0,2 0 0 0 0,4 0 0 0 0,-1 0 0 0 0,4 0 0 0 0,2 0 0 0 0,4 0 0 0 0,-2 0 0 0 0,1 0 0 0 0,1 0 0 0 0,-4 0 0 0 0,1 0 0 0 0,-3 0 0 0 0,-5 0 0 0 0,0 0 0 0 0,-1 0 0 0 0,-3 0 0 0 0,-2 0 0 0 0,-3 0 0 0 0,-2 0 0 0 0,-1 0 0 0 0,-5 0 0 0 0,-8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093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D317CDF-7DC0-CA5A-918A-D2622AB8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9616B3B-ECE6-F081-F102-9239F316A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1B32430-2A94-BD8A-6648-48A98697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4060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jahnavi121005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hnavim12/InterviewAce-AI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nterviewace-ai-jahnavim12.streamlit.app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Machine Learning with IBM Cloud”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67571133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JAHNAVI MARRAPU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mjahnavi121005@gmail.com</a:t>
                      </a:r>
                      <a:r>
                        <a:rPr lang="en-US" dirty="0"/>
                        <a:t> 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9182496839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Domain of  Project – </a:t>
            </a:r>
            <a:r>
              <a:rPr lang="en-IN" sz="2000" dirty="0"/>
              <a:t> </a:t>
            </a:r>
            <a:r>
              <a:rPr lang="en-IN" sz="2000" b="1" dirty="0"/>
              <a:t>Education (AI-Powered Career &amp; Interview Preparation)</a:t>
            </a:r>
            <a:endParaRPr lang="en-IN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InterviewAce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-AI</a:t>
            </a:r>
            <a:endParaRPr lang="en-IN" sz="2800" b="1" dirty="0">
              <a:solidFill>
                <a:schemeClr val="accent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261D6-3B2A-69A7-033F-B61660738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729" y="3648075"/>
            <a:ext cx="932996" cy="10926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38149" y="864646"/>
            <a:ext cx="11428521" cy="58631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 sz="1500" b="1" dirty="0"/>
              <a:t>Problem Statement: Interview Trainer Agent</a:t>
            </a:r>
          </a:p>
          <a:p>
            <a:pPr algn="just"/>
            <a:r>
              <a:rPr lang="en-IN" sz="1500" b="1" dirty="0"/>
              <a:t>The Challenge</a:t>
            </a:r>
          </a:p>
          <a:p>
            <a:pPr algn="just"/>
            <a:r>
              <a:rPr lang="en-IN" sz="1500" dirty="0"/>
              <a:t>Preparing for job interviews can be difficult for students and job seekers due to the lack of </a:t>
            </a:r>
            <a:r>
              <a:rPr lang="en-IN" sz="1500" b="1" dirty="0"/>
              <a:t>personalized guidance, role-specific practice, and instant feedback</a:t>
            </a:r>
            <a:r>
              <a:rPr lang="en-IN" sz="1500" dirty="0"/>
              <a:t>. Traditional preparation methods rely on static question banks or costly mock interviews that do not adapt to an individual's skill level or career goals. Without an intelligent, real-time interview coach, many candidates struggle to identify weaknesses, improve communication skills, and build confidence before actual interviews.</a:t>
            </a:r>
          </a:p>
          <a:p>
            <a:pPr algn="just"/>
            <a:endParaRPr lang="en-IN" sz="1500" dirty="0"/>
          </a:p>
          <a:p>
            <a:pPr algn="just"/>
            <a:r>
              <a:rPr lang="en-IN" sz="1500" b="1" dirty="0"/>
              <a:t>The Objective</a:t>
            </a:r>
          </a:p>
          <a:p>
            <a:pPr algn="just"/>
            <a:r>
              <a:rPr lang="en-IN" sz="1500" dirty="0"/>
              <a:t>Build an </a:t>
            </a:r>
            <a:r>
              <a:rPr lang="en-IN" sz="1500" b="1" dirty="0"/>
              <a:t>AI-Powered Interview Trainer Agent</a:t>
            </a:r>
            <a:r>
              <a:rPr lang="en-IN" sz="1500" dirty="0"/>
              <a:t> that delivers </a:t>
            </a:r>
            <a:r>
              <a:rPr lang="en-IN" sz="1500" b="1" dirty="0"/>
              <a:t>personalized interview preparation</a:t>
            </a:r>
            <a:r>
              <a:rPr lang="en-IN" sz="1500" dirty="0"/>
              <a:t> using IBM watsonx.ai and Granite Large Language Models. The solution should:</a:t>
            </a:r>
          </a:p>
          <a:p>
            <a:pPr algn="just"/>
            <a:r>
              <a:rPr lang="en-IN" sz="1500" b="1" dirty="0"/>
              <a:t>Role-Based Interview Questions</a:t>
            </a:r>
            <a:r>
              <a:rPr lang="en-IN" sz="1500" dirty="0"/>
              <a:t> – Generate technical and HR interview questions based on the selected job role and experience level.</a:t>
            </a:r>
          </a:p>
          <a:p>
            <a:pPr algn="just"/>
            <a:r>
              <a:rPr lang="en-IN" sz="1500" b="1" dirty="0"/>
              <a:t>AI Answer Evaluation</a:t>
            </a:r>
            <a:r>
              <a:rPr lang="en-IN" sz="1500" dirty="0"/>
              <a:t> – </a:t>
            </a:r>
            <a:r>
              <a:rPr lang="en-IN" sz="1500" dirty="0" err="1"/>
              <a:t>Analyze</a:t>
            </a:r>
            <a:r>
              <a:rPr lang="en-IN" sz="1500" dirty="0"/>
              <a:t> user responses and provide detailed feedback, strengths, weaknesses, and improvement suggestions.</a:t>
            </a:r>
          </a:p>
          <a:p>
            <a:pPr algn="just"/>
            <a:r>
              <a:rPr lang="en-IN" sz="1500" b="1" dirty="0"/>
              <a:t>Interview Scoring System</a:t>
            </a:r>
            <a:r>
              <a:rPr lang="en-IN" sz="1500" dirty="0"/>
              <a:t> – Evaluate answers and assign scores based on accuracy, communication, and problem-solving ability.</a:t>
            </a:r>
          </a:p>
          <a:p>
            <a:pPr algn="just"/>
            <a:r>
              <a:rPr lang="en-IN" sz="1500" b="1" dirty="0"/>
              <a:t>Adaptive Question Generation</a:t>
            </a:r>
            <a:r>
              <a:rPr lang="en-IN" sz="1500" dirty="0"/>
              <a:t> – Dynamically adjust the difficulty of questions according to the candidate's performance.</a:t>
            </a:r>
          </a:p>
          <a:p>
            <a:pPr algn="just"/>
            <a:r>
              <a:rPr lang="en-IN" sz="1500" b="1" dirty="0"/>
              <a:t>Personalized Learning Recommendations</a:t>
            </a:r>
            <a:r>
              <a:rPr lang="en-IN" sz="1500" dirty="0"/>
              <a:t> – Recommend topics, resources, and practice areas to improve interview readiness.</a:t>
            </a:r>
          </a:p>
          <a:p>
            <a:pPr algn="just"/>
            <a:r>
              <a:rPr lang="en-IN" sz="1500" b="1" dirty="0"/>
              <a:t>Session History &amp; Progress Tracking</a:t>
            </a:r>
            <a:r>
              <a:rPr lang="en-IN" sz="1500" dirty="0"/>
              <a:t> – Store previous interview sessions and monitor user improvement over time.</a:t>
            </a:r>
          </a:p>
          <a:p>
            <a:pPr algn="just"/>
            <a:r>
              <a:rPr lang="en-IN" sz="1500" b="1" dirty="0"/>
              <a:t>Multi-Role Support</a:t>
            </a:r>
            <a:r>
              <a:rPr lang="en-IN" sz="1500" dirty="0"/>
              <a:t> – Support interview preparation for Software Engineering, Data Science, AI/ML, Web Development, Cybersecurity, and other technical roles.</a:t>
            </a:r>
          </a:p>
          <a:p>
            <a:pPr algn="just"/>
            <a:r>
              <a:rPr lang="en-IN" sz="1500" b="1" dirty="0"/>
              <a:t>AI Interview Coach</a:t>
            </a:r>
            <a:r>
              <a:rPr lang="en-IN" sz="1500" dirty="0"/>
              <a:t> – Provide constructive feedback and model answers to help users understand the expected responses.</a:t>
            </a:r>
          </a:p>
          <a:p>
            <a:pPr algn="just"/>
            <a:r>
              <a:rPr lang="en-IN" sz="1500" b="1" dirty="0"/>
              <a:t>Performance Dashboard</a:t>
            </a:r>
            <a:r>
              <a:rPr lang="en-IN" sz="1500" dirty="0"/>
              <a:t> – Visualize interview scores, strengths, weak areas, and overall progress through interactive charts.</a:t>
            </a:r>
          </a:p>
          <a:p>
            <a:pPr algn="just"/>
            <a:br>
              <a:rPr lang="en-IN" sz="1500" dirty="0"/>
            </a:br>
            <a:endParaRPr lang="en-IN" sz="1500" dirty="0"/>
          </a:p>
          <a:p>
            <a:pPr algn="just"/>
            <a:endParaRPr lang="en-IN" sz="1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351954" y="401529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23880" y="674734"/>
            <a:ext cx="11131336" cy="59357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 sz="1500" b="1" dirty="0"/>
              <a:t>Proposed Solution: AI-Powered Interview Trainer Agent</a:t>
            </a:r>
          </a:p>
          <a:p>
            <a:pPr algn="just"/>
            <a:r>
              <a:rPr lang="en-IN" sz="1500" dirty="0"/>
              <a:t>The proposed solution is an </a:t>
            </a:r>
            <a:r>
              <a:rPr lang="en-IN" sz="1500" b="1" dirty="0"/>
              <a:t>AI-powered Interview Trainer Agent</a:t>
            </a:r>
            <a:r>
              <a:rPr lang="en-IN" sz="1500" dirty="0"/>
              <a:t> built using </a:t>
            </a:r>
            <a:r>
              <a:rPr lang="en-IN" sz="1500" b="1" dirty="0"/>
              <a:t>Python, </a:t>
            </a:r>
            <a:r>
              <a:rPr lang="en-IN" sz="1500" b="1" dirty="0" err="1"/>
              <a:t>Streamlit</a:t>
            </a:r>
            <a:r>
              <a:rPr lang="en-IN" sz="1500" b="1" dirty="0"/>
              <a:t>, IBM watsonx.ai, and IBM Granite Models</a:t>
            </a:r>
            <a:r>
              <a:rPr lang="en-IN" sz="1500" dirty="0"/>
              <a:t> to provide personalized, interactive, and intelligent interview preparation. The system addresses the challenges faced by students and job seekers by generating role-specific interview questions, evaluating responses, and providing real-time feedback through an AI-powered conversational interface.</a:t>
            </a:r>
          </a:p>
          <a:p>
            <a:pPr algn="just"/>
            <a:r>
              <a:rPr lang="en-IN" sz="1500" dirty="0"/>
              <a:t>At its core, the solution uses </a:t>
            </a:r>
            <a:r>
              <a:rPr lang="en-IN" sz="1500" b="1" dirty="0"/>
              <a:t>IBM Granite Large Language Models (LLMs)</a:t>
            </a:r>
            <a:r>
              <a:rPr lang="en-IN" sz="1500" dirty="0"/>
              <a:t> to generate interview questions, assess candidate responses, and provide detailed explanations and improvement suggestions. The application maintains conversation history using </a:t>
            </a:r>
            <a:r>
              <a:rPr lang="en-IN" sz="1500" b="1" dirty="0"/>
              <a:t>Session State</a:t>
            </a:r>
            <a:r>
              <a:rPr lang="en-IN" sz="1500" dirty="0"/>
              <a:t>, enabling users to continue interview sessions seamlessly and track their learning progress.</a:t>
            </a:r>
          </a:p>
          <a:p>
            <a:pPr algn="just"/>
            <a:r>
              <a:rPr lang="en-IN" sz="1500" dirty="0"/>
              <a:t>The system consists of four key modules:</a:t>
            </a:r>
          </a:p>
          <a:p>
            <a:pPr algn="just"/>
            <a:r>
              <a:rPr lang="en-IN" sz="1500" b="1" dirty="0"/>
              <a:t>Interview Question Generator</a:t>
            </a:r>
            <a:r>
              <a:rPr lang="en-IN" sz="1500" dirty="0"/>
              <a:t> generates personalized technical and HR interview questions based on the selected job role and experience level.</a:t>
            </a:r>
          </a:p>
          <a:p>
            <a:pPr algn="just"/>
            <a:r>
              <a:rPr lang="en-IN" sz="1500" b="1" dirty="0"/>
              <a:t>Answer Evaluation Agent</a:t>
            </a:r>
            <a:r>
              <a:rPr lang="en-IN" sz="1500" dirty="0"/>
              <a:t> </a:t>
            </a:r>
            <a:r>
              <a:rPr lang="en-IN" sz="1500" dirty="0" err="1"/>
              <a:t>analyzes</a:t>
            </a:r>
            <a:r>
              <a:rPr lang="en-IN" sz="1500" dirty="0"/>
              <a:t> candidate responses for technical accuracy, clarity, communication, and completeness, while assigning a performance score and providing constructive feedback.</a:t>
            </a:r>
          </a:p>
          <a:p>
            <a:pPr algn="just"/>
            <a:r>
              <a:rPr lang="en-IN" sz="1500" b="1" dirty="0"/>
              <a:t>Learning Recommendation Agent</a:t>
            </a:r>
            <a:r>
              <a:rPr lang="en-IN" sz="1500" dirty="0"/>
              <a:t> identifies weak areas and recommends topics, learning resources, and practice strategies to improve interview performance.</a:t>
            </a:r>
          </a:p>
          <a:p>
            <a:pPr algn="just"/>
            <a:r>
              <a:rPr lang="en-IN" sz="1500" b="1" dirty="0"/>
              <a:t>Progress Tracking Dashboard</a:t>
            </a:r>
            <a:r>
              <a:rPr lang="en-IN" sz="1500" dirty="0"/>
              <a:t> stores interview history and visualizes scores, strengths, weaknesses, and improvement trends using interactive charts.</a:t>
            </a:r>
          </a:p>
          <a:p>
            <a:pPr algn="just"/>
            <a:r>
              <a:rPr lang="en-IN" sz="1500" dirty="0"/>
              <a:t>The solution includes a </a:t>
            </a:r>
            <a:r>
              <a:rPr lang="en-IN" sz="1500" b="1" dirty="0"/>
              <a:t>user-friendly </a:t>
            </a:r>
            <a:r>
              <a:rPr lang="en-IN" sz="1500" b="1" dirty="0" err="1"/>
              <a:t>Streamlit</a:t>
            </a:r>
            <a:r>
              <a:rPr lang="en-IN" sz="1500" b="1" dirty="0"/>
              <a:t> dashboard</a:t>
            </a:r>
            <a:r>
              <a:rPr lang="en-IN" sz="1500" dirty="0"/>
              <a:t> where users can choose their desired job role, answer AI-generated questions, receive instant evaluation, and monitor their interview preparation progress.</a:t>
            </a:r>
          </a:p>
          <a:p>
            <a:pPr algn="just"/>
            <a:r>
              <a:rPr lang="en-IN" sz="1500" dirty="0"/>
              <a:t>IBM watsonx.ai powers the reasoning and evaluation capabilities, while Granite models deliver high-quality question generation, response assessment, and personalized recommendations.</a:t>
            </a:r>
          </a:p>
          <a:p>
            <a:pPr algn="just"/>
            <a:r>
              <a:rPr lang="en-IN" sz="1500" dirty="0"/>
              <a:t>Overall, this solution delivers an </a:t>
            </a:r>
            <a:r>
              <a:rPr lang="en-IN" sz="1500" b="1" dirty="0"/>
              <a:t>end-to-end AI Interview Training Assistant</a:t>
            </a:r>
            <a:r>
              <a:rPr lang="en-IN" sz="1500" dirty="0"/>
              <a:t> that enhances technical knowledge, communication skills, and interview confidence, helping students and professionals prepare effectively for real-world recruitment processes.</a:t>
            </a:r>
          </a:p>
          <a:p>
            <a:pPr algn="just" fontAlgn="base">
              <a:lnSpc>
                <a:spcPct val="150000"/>
              </a:lnSpc>
            </a:pPr>
            <a:endParaRPr lang="en-US" sz="1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158538" y="203047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770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br>
              <a:rPr lang="en-IN" sz="1600" dirty="0"/>
            </a:br>
            <a:r>
              <a:rPr lang="en-IN" sz="1600" b="1" dirty="0"/>
              <a:t>IBM Granite Model (Granite-3.2 / Granite-4)</a:t>
            </a:r>
            <a:r>
              <a:rPr lang="en-IN" sz="1600" dirty="0"/>
              <a:t> – Used for generating personalized interview questions, evaluating candidate responses, providing intelligent feedback, scoring answers, and recommending improvements using natural language understanding and reasoning.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IBM watsonx.ai</a:t>
            </a:r>
            <a:r>
              <a:rPr lang="en-IN" sz="1600" dirty="0"/>
              <a:t> – Provides access to IBM Granite models through secure APIs, enabling AI-powered interview generation, response evaluation, and deployment on IBM Cloud.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IBM Cloud Lite</a:t>
            </a:r>
            <a:r>
              <a:rPr lang="en-IN" sz="1600" dirty="0"/>
              <a:t> – Offers the cloud infrastructure required to host, manage, and securely access IBM watsonx.ai services, ensuring a scalable and reliable AI application.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Python &amp; </a:t>
            </a:r>
            <a:r>
              <a:rPr lang="en-IN" sz="1600" b="1" dirty="0" err="1"/>
              <a:t>Streamlit</a:t>
            </a:r>
            <a:r>
              <a:rPr lang="en-IN" sz="1600" dirty="0"/>
              <a:t> – Python is used for the application logic, while </a:t>
            </a:r>
            <a:r>
              <a:rPr lang="en-IN" sz="1600" dirty="0" err="1"/>
              <a:t>Streamlit</a:t>
            </a:r>
            <a:r>
              <a:rPr lang="en-IN" sz="1600" dirty="0"/>
              <a:t> provides an interactive and user-friendly web interface for conducting mock interviews and displaying AI-generated feedback.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Session State (</a:t>
            </a:r>
            <a:r>
              <a:rPr lang="en-IN" sz="1600" b="1" dirty="0" err="1"/>
              <a:t>Streamlit</a:t>
            </a:r>
            <a:r>
              <a:rPr lang="en-IN" sz="1600" b="1" dirty="0"/>
              <a:t>)</a:t>
            </a:r>
            <a:r>
              <a:rPr lang="en-IN" sz="1600" dirty="0"/>
              <a:t> – Maintains interview history, user responses, and conversation flow, enabling seamless multi-question interview sessions.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GitHub</a:t>
            </a:r>
            <a:r>
              <a:rPr lang="en-IN" sz="1600" dirty="0"/>
              <a:t> – Used for version control, source code management, collaboration, and project deployment.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E0B11B-CB80-FAFB-A045-A468B1F8072C}"/>
              </a:ext>
            </a:extLst>
          </p:cNvPr>
          <p:cNvSpPr txBox="1"/>
          <p:nvPr/>
        </p:nvSpPr>
        <p:spPr>
          <a:xfrm>
            <a:off x="482600" y="567267"/>
            <a:ext cx="11201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Orchestrate Components Used –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endParaRPr lang="en-IN" sz="1600" b="1" dirty="0"/>
          </a:p>
          <a:p>
            <a:pPr>
              <a:buNone/>
            </a:pPr>
            <a:r>
              <a:rPr lang="en-IN" sz="1600" b="1" dirty="0"/>
              <a:t>1) User Input</a:t>
            </a:r>
          </a:p>
          <a:p>
            <a:pPr>
              <a:buNone/>
            </a:pPr>
            <a:r>
              <a:rPr lang="en-IN" sz="1600" dirty="0"/>
              <a:t>Users select their </a:t>
            </a:r>
            <a:r>
              <a:rPr lang="en-IN" sz="1600" b="1" dirty="0"/>
              <a:t>Job Role</a:t>
            </a:r>
            <a:r>
              <a:rPr lang="en-IN" sz="1600" dirty="0"/>
              <a:t>, </a:t>
            </a:r>
            <a:r>
              <a:rPr lang="en-IN" sz="1600" b="1" dirty="0"/>
              <a:t>Experience Level</a:t>
            </a:r>
            <a:r>
              <a:rPr lang="en-IN" sz="1600" dirty="0"/>
              <a:t>, and enter interview answers through the </a:t>
            </a:r>
            <a:r>
              <a:rPr lang="en-IN" sz="1600" dirty="0" err="1"/>
              <a:t>Streamlit</a:t>
            </a:r>
            <a:r>
              <a:rPr lang="en-IN" sz="1600" dirty="0"/>
              <a:t> web interface.</a:t>
            </a:r>
          </a:p>
          <a:p>
            <a:pPr>
              <a:buNone/>
            </a:pPr>
            <a:r>
              <a:rPr lang="en-IN" sz="1600" b="1" dirty="0"/>
              <a:t>2) IBM watsonx.ai Agent</a:t>
            </a:r>
          </a:p>
          <a:p>
            <a:pPr>
              <a:buNone/>
            </a:pPr>
            <a:r>
              <a:rPr lang="en-IN" sz="1600" dirty="0"/>
              <a:t>Processes user inputs using </a:t>
            </a:r>
            <a:r>
              <a:rPr lang="en-IN" sz="1600" b="1" dirty="0"/>
              <a:t>IBM Granite</a:t>
            </a:r>
            <a:r>
              <a:rPr lang="en-IN" sz="1600" dirty="0"/>
              <a:t> models to generate interview questions, evaluate responses, assign scores, and provide personalized feedback.</a:t>
            </a:r>
          </a:p>
          <a:p>
            <a:pPr>
              <a:buNone/>
            </a:pPr>
            <a:r>
              <a:rPr lang="en-IN" sz="1600" b="1" dirty="0"/>
              <a:t>3) IBM Granite Model</a:t>
            </a:r>
          </a:p>
          <a:p>
            <a:pPr>
              <a:buNone/>
            </a:pPr>
            <a:r>
              <a:rPr lang="en-IN" sz="1600" b="1" dirty="0"/>
              <a:t>Granite-3.2-8B-Instruct</a:t>
            </a:r>
            <a:r>
              <a:rPr lang="en-IN" sz="1600" dirty="0"/>
              <a:t> </a:t>
            </a:r>
            <a:r>
              <a:rPr lang="en-IN" sz="1600" i="1" dirty="0"/>
              <a:t>(or the Granite model used in your IBM Cloud project)</a:t>
            </a:r>
            <a:r>
              <a:rPr lang="en-IN" sz="1600" dirty="0"/>
              <a:t> is responsible for question generation, answer evaluation, reasoning, and interview guidance.</a:t>
            </a:r>
          </a:p>
          <a:p>
            <a:pPr>
              <a:buNone/>
            </a:pPr>
            <a:r>
              <a:rPr lang="en-IN" sz="1600" b="1" dirty="0"/>
              <a:t>4) AI Response Output</a:t>
            </a:r>
          </a:p>
          <a:p>
            <a:pPr>
              <a:buNone/>
            </a:pPr>
            <a:r>
              <a:rPr lang="en-IN" sz="1600" dirty="0"/>
              <a:t>Displays AI-generated interview questions, performance scores, strengths, weaknesses, improvement suggestions, and model answers.</a:t>
            </a:r>
          </a:p>
          <a:p>
            <a:pPr>
              <a:buNone/>
            </a:pPr>
            <a:r>
              <a:rPr lang="en-IN" sz="1600" b="1" dirty="0"/>
              <a:t>5) Session State</a:t>
            </a:r>
          </a:p>
          <a:p>
            <a:pPr>
              <a:buNone/>
            </a:pPr>
            <a:r>
              <a:rPr lang="en-IN" sz="1600" dirty="0"/>
              <a:t>Maintains interview history, stores previous responses, tracks conversation flow, and enables continuous interview sessions.</a:t>
            </a:r>
          </a:p>
          <a:p>
            <a:pPr>
              <a:buNone/>
            </a:pPr>
            <a:r>
              <a:rPr lang="en-IN" sz="1600" b="1" dirty="0"/>
              <a:t>6) </a:t>
            </a:r>
            <a:r>
              <a:rPr lang="en-IN" sz="1600" b="1" dirty="0" err="1"/>
              <a:t>Streamlit</a:t>
            </a:r>
            <a:r>
              <a:rPr lang="en-IN" sz="1600" b="1" dirty="0"/>
              <a:t> Dashboard</a:t>
            </a:r>
          </a:p>
          <a:p>
            <a:pPr>
              <a:buNone/>
            </a:pPr>
            <a:r>
              <a:rPr lang="en-IN" sz="1600" dirty="0"/>
              <a:t>Provides an interactive web interface for selecting job roles, answering questions, viewing AI feedback, and monitoring interview progress.</a:t>
            </a:r>
          </a:p>
        </p:txBody>
      </p:sp>
    </p:spTree>
    <p:extLst>
      <p:ext uri="{BB962C8B-B14F-4D97-AF65-F5344CB8AC3E}">
        <p14:creationId xmlns:p14="http://schemas.microsoft.com/office/powerpoint/2010/main" val="1988073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Screenshots-</a:t>
            </a:r>
          </a:p>
          <a:p>
            <a:pPr>
              <a:buClr>
                <a:srgbClr val="051D3A"/>
              </a:buClr>
              <a:buSzPts val="3500"/>
            </a:pPr>
            <a:endParaRPr sz="2400" b="1" dirty="0"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1779AB-1B15-B303-5240-859672ACC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41" y="988184"/>
            <a:ext cx="11191845" cy="544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A30FF-65A3-F392-A9DC-4FFCB2287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2" y="651933"/>
            <a:ext cx="10185881" cy="555413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732BF33-7BB2-B8E7-E7F9-9825E90AC330}"/>
              </a:ext>
            </a:extLst>
          </p:cNvPr>
          <p:cNvCxnSpPr>
            <a:cxnSpLocks/>
          </p:cNvCxnSpPr>
          <p:nvPr/>
        </p:nvCxnSpPr>
        <p:spPr>
          <a:xfrm flipV="1">
            <a:off x="1998133" y="1363133"/>
            <a:ext cx="8695267" cy="18372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E40A41A-F9C2-7FC4-0A69-306D56268663}"/>
              </a:ext>
            </a:extLst>
          </p:cNvPr>
          <p:cNvSpPr txBox="1"/>
          <p:nvPr/>
        </p:nvSpPr>
        <p:spPr>
          <a:xfrm>
            <a:off x="10713856" y="1060057"/>
            <a:ext cx="126295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Choose targeted job role and experience level and then click on interview session for your interview preparation.</a:t>
            </a:r>
            <a:endParaRPr lang="en-I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E69E7BF-BEF2-458E-692A-A750B748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56959763-B5B5-22E5-733E-B3F05D391F6B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2195A-2E01-85AB-5168-CFC1F12CD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13" y="710076"/>
            <a:ext cx="8865748" cy="54378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3ADE0E-B713-E2FC-50B1-E4839B3E0632}"/>
              </a:ext>
            </a:extLst>
          </p:cNvPr>
          <p:cNvSpPr txBox="1"/>
          <p:nvPr/>
        </p:nvSpPr>
        <p:spPr>
          <a:xfrm>
            <a:off x="9734719" y="1286634"/>
            <a:ext cx="15536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Type the answer in the text box and click on evaluate answer to view the result.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473DF8-4042-C68E-1BE8-CC4CB5CC5CBA}"/>
              </a:ext>
            </a:extLst>
          </p:cNvPr>
          <p:cNvCxnSpPr>
            <a:cxnSpLocks/>
          </p:cNvCxnSpPr>
          <p:nvPr/>
        </p:nvCxnSpPr>
        <p:spPr>
          <a:xfrm flipV="1">
            <a:off x="5715000" y="2247900"/>
            <a:ext cx="4000500" cy="25336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656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85005-F252-BD82-6131-1450141A6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47675"/>
            <a:ext cx="9704181" cy="5848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B12BBB-9D52-D55D-A09C-48CE4567B731}"/>
              </a:ext>
            </a:extLst>
          </p:cNvPr>
          <p:cNvSpPr txBox="1"/>
          <p:nvPr/>
        </p:nvSpPr>
        <p:spPr>
          <a:xfrm>
            <a:off x="10420350" y="1095375"/>
            <a:ext cx="1438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C00000"/>
                </a:solidFill>
              </a:rPr>
              <a:t>Evaluation report is generated to view your strengths and weaknesses.</a:t>
            </a:r>
            <a:endParaRPr lang="en-IN" sz="1500" dirty="0">
              <a:solidFill>
                <a:srgbClr val="C0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E4C238-72D8-A886-C423-87F7E9A02353}"/>
              </a:ext>
            </a:extLst>
          </p:cNvPr>
          <p:cNvSpPr/>
          <p:nvPr/>
        </p:nvSpPr>
        <p:spPr>
          <a:xfrm>
            <a:off x="3057525" y="1666875"/>
            <a:ext cx="6591300" cy="389572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C19EE2-3CF7-5C15-905D-956396C3866D}"/>
              </a:ext>
            </a:extLst>
          </p:cNvPr>
          <p:cNvCxnSpPr/>
          <p:nvPr/>
        </p:nvCxnSpPr>
        <p:spPr>
          <a:xfrm flipV="1">
            <a:off x="9734550" y="1447800"/>
            <a:ext cx="590550" cy="1676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295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0769628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en-IN" sz="1800" dirty="0"/>
              <a:t>The solution automates interview preparation by generating personalized interview questions and evaluating candidate responses in real time. </a:t>
            </a:r>
          </a:p>
          <a:p>
            <a:pPr marL="285750" indent="-285750">
              <a:buChar char="•"/>
            </a:pPr>
            <a:endParaRPr lang="en-IN" sz="1800" dirty="0"/>
          </a:p>
          <a:p>
            <a:pPr marL="285750" indent="-285750">
              <a:buChar char="•"/>
            </a:pPr>
            <a:r>
              <a:rPr lang="en-IN" sz="1800" dirty="0"/>
              <a:t>It uses </a:t>
            </a:r>
            <a:r>
              <a:rPr lang="en-IN" sz="1800" b="1" dirty="0"/>
              <a:t>IBM watsonx.ai</a:t>
            </a:r>
            <a:r>
              <a:rPr lang="en-IN" sz="1800" dirty="0"/>
              <a:t> and </a:t>
            </a:r>
            <a:r>
              <a:rPr lang="en-IN" sz="1800" b="1" dirty="0"/>
              <a:t>IBM Granite Models</a:t>
            </a:r>
            <a:r>
              <a:rPr lang="en-IN" sz="1800" dirty="0"/>
              <a:t> to provide intelligent interview simulations, answer evaluation, and personalized feedback without requiring manual assessment. </a:t>
            </a:r>
          </a:p>
          <a:p>
            <a:pPr marL="285750" indent="-285750">
              <a:buChar char="•"/>
            </a:pPr>
            <a:endParaRPr lang="en-IN" sz="1800" dirty="0"/>
          </a:p>
          <a:p>
            <a:pPr marL="285750" indent="-285750">
              <a:buChar char="•"/>
            </a:pPr>
            <a:r>
              <a:rPr lang="en-IN" sz="1800" dirty="0"/>
              <a:t>The system supports multiple job roles and experience levels through a single AI-powered interview training platform. AI-powered reasoning identifies strengths, weaknesses, and skill gaps, helping users improve their technical and communication abilities. </a:t>
            </a:r>
          </a:p>
          <a:p>
            <a:pPr marL="285750" indent="-285750">
              <a:buChar char="•"/>
            </a:pPr>
            <a:endParaRPr lang="en-IN" sz="1800" dirty="0"/>
          </a:p>
          <a:p>
            <a:pPr marL="285750" indent="-285750">
              <a:buChar char="•"/>
            </a:pPr>
            <a:r>
              <a:rPr lang="en-IN" sz="1800" dirty="0"/>
              <a:t>The solution ensures consistent, unbiased, and instant evaluation while providing actionable recommendations to enhance interview readiness and boost confidence.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https://github.com/Jahnavim12/InterviewAce-AI</a:t>
            </a:r>
            <a:endParaRPr lang="en-IN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IN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 link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https://interviewace-ai-jahnavim12.streamlit.app/</a:t>
            </a:r>
            <a:endParaRPr lang="en-IN" sz="20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sz="200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723900" y="420729"/>
            <a:ext cx="693932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714375" y="1221715"/>
            <a:ext cx="9718929" cy="5026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1750" dirty="0"/>
              <a:t>The system can be integrated with </a:t>
            </a:r>
            <a:r>
              <a:rPr lang="en-IN" sz="1750" b="1" dirty="0"/>
              <a:t>college placement portals, Learning Management Systems (LMS), and recruitment platforms</a:t>
            </a:r>
            <a:r>
              <a:rPr lang="en-IN" sz="1750" dirty="0"/>
              <a:t> to provide personalized interview preparation for students and job seekers. </a:t>
            </a:r>
          </a:p>
          <a:p>
            <a:pPr marL="285750" lvl="0" indent="-28575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1750" dirty="0"/>
              <a:t>Additional </a:t>
            </a:r>
            <a:r>
              <a:rPr lang="en-IN" sz="1750" b="1" dirty="0"/>
              <a:t>company-specific interview modules</a:t>
            </a:r>
            <a:r>
              <a:rPr lang="en-IN" sz="1750" dirty="0"/>
              <a:t> (e.g., TCS, Infosys, Accenture, Amazon, Google, Microsoft) can be incorporated to simulate real recruitment processes.</a:t>
            </a:r>
          </a:p>
          <a:p>
            <a:pPr marL="285750" lvl="0" indent="-28575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1750" dirty="0"/>
              <a:t> </a:t>
            </a:r>
            <a:r>
              <a:rPr lang="en-IN" sz="1750" b="1" dirty="0"/>
              <a:t>Resume analysis, ATS score evaluation, and personalized career recommendations</a:t>
            </a:r>
            <a:r>
              <a:rPr lang="en-IN" sz="1750" dirty="0"/>
              <a:t> can be integrated to provide end-to-end placement assistance.</a:t>
            </a:r>
          </a:p>
          <a:p>
            <a:pPr marL="285750" lvl="0" indent="-28575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1750" dirty="0"/>
              <a:t> Advanced </a:t>
            </a:r>
            <a:r>
              <a:rPr lang="en-IN" sz="1750" b="1" dirty="0"/>
              <a:t>IBM watsonx.ai Granite models</a:t>
            </a:r>
            <a:r>
              <a:rPr lang="en-IN" sz="1750" dirty="0"/>
              <a:t> can continuously improve question generation, answer evaluation, and feedback quality using user interactions and updated industry requirements. </a:t>
            </a:r>
          </a:p>
          <a:p>
            <a:pPr marL="285750" lvl="0" indent="-28575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1750" dirty="0"/>
              <a:t>The solution can be enhanced with </a:t>
            </a:r>
            <a:r>
              <a:rPr lang="en-IN" sz="1750" b="1" dirty="0"/>
              <a:t>voice-based mock interviews, facial expression analysis, multilingual support, and real-time speech evaluation</a:t>
            </a:r>
            <a:r>
              <a:rPr lang="en-IN" sz="1750" dirty="0"/>
              <a:t>, making it a comprehensive AI-powered interview preparation platform for educational institutions, training </a:t>
            </a:r>
            <a:r>
              <a:rPr lang="en-IN" sz="1750" dirty="0" err="1"/>
              <a:t>centers</a:t>
            </a:r>
            <a:r>
              <a:rPr lang="en-IN" sz="1750" dirty="0"/>
              <a:t>, and recruitment organizations.</a:t>
            </a:r>
            <a:endParaRPr lang="en-US" sz="1750" b="1" dirty="0">
              <a:solidFill>
                <a:srgbClr val="2B3541"/>
              </a:solidFill>
              <a:latin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488599-1CDB-6479-4ED5-FDEEC38049D9}"/>
                  </a:ext>
                </a:extLst>
              </p14:cNvPr>
              <p14:cNvContentPartPr/>
              <p14:nvPr/>
            </p14:nvContentPartPr>
            <p14:xfrm>
              <a:off x="3048334" y="3639298"/>
              <a:ext cx="3513095" cy="16098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C488599-1CDB-6479-4ED5-FDEEC38049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0337" y="2834398"/>
                <a:ext cx="3548730" cy="16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6AD5D31-EDA5-2C50-7CE9-7D1E60A89F54}"/>
                  </a:ext>
                </a:extLst>
              </p14:cNvPr>
              <p14:cNvContentPartPr/>
              <p14:nvPr/>
            </p14:nvContentPartPr>
            <p14:xfrm>
              <a:off x="3338890" y="3210002"/>
              <a:ext cx="3042822" cy="1609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6AD5D31-EDA5-2C50-7CE9-7D1E60A89F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20892" y="2405102"/>
                <a:ext cx="3078459" cy="16098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091A9A9-7374-0760-761B-1A335A6D1F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8144" y="739621"/>
            <a:ext cx="8020462" cy="5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308AEF-F379-EDE1-A7BE-5A6BB8A453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34" b="19523"/>
          <a:stretch>
            <a:fillRect/>
          </a:stretch>
        </p:blipFill>
        <p:spPr>
          <a:xfrm>
            <a:off x="1557711" y="861805"/>
            <a:ext cx="9076577" cy="551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</Words>
  <Application>Microsoft Office PowerPoint</Application>
  <PresentationFormat>Widescreen</PresentationFormat>
  <Paragraphs>99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Jahnavi Marrapu</cp:lastModifiedBy>
  <cp:revision>4</cp:revision>
  <dcterms:created xsi:type="dcterms:W3CDTF">2025-07-08T05:06:56Z</dcterms:created>
  <dcterms:modified xsi:type="dcterms:W3CDTF">2026-07-12T07:47:41Z</dcterms:modified>
</cp:coreProperties>
</file>